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Lst>
  <p:sldSz cx="18288000" cy="10287000"/>
  <p:notesSz cx="6858000" cy="9144000"/>
  <p:embeddedFontLst>
    <p:embeddedFont>
      <p:font typeface="Poppins Bold" charset="1" panose="00000800000000000000"/>
      <p:regular r:id="rId13"/>
    </p:embeddedFont>
    <p:embeddedFont>
      <p:font typeface="Poppins" charset="1" panose="0000050000000000000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fonts/font13.fntdata" Type="http://schemas.openxmlformats.org/officeDocument/2006/relationships/font"/><Relationship Id="rId14" Target="fonts/font14.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FEF7"/>
        </a:solidFill>
      </p:bgPr>
    </p:bg>
    <p:spTree>
      <p:nvGrpSpPr>
        <p:cNvPr id="1" name=""/>
        <p:cNvGrpSpPr/>
        <p:nvPr/>
      </p:nvGrpSpPr>
      <p:grpSpPr>
        <a:xfrm>
          <a:off x="0" y="0"/>
          <a:ext cx="0" cy="0"/>
          <a:chOff x="0" y="0"/>
          <a:chExt cx="0" cy="0"/>
        </a:xfrm>
      </p:grpSpPr>
      <p:sp>
        <p:nvSpPr>
          <p:cNvPr name="Freeform 2" id="2"/>
          <p:cNvSpPr/>
          <p:nvPr/>
        </p:nvSpPr>
        <p:spPr>
          <a:xfrm flipH="false" flipV="false" rot="0">
            <a:off x="-527194" y="-307537"/>
            <a:ext cx="19342388" cy="10902073"/>
          </a:xfrm>
          <a:custGeom>
            <a:avLst/>
            <a:gdLst/>
            <a:ahLst/>
            <a:cxnLst/>
            <a:rect r="r" b="b" t="t" l="l"/>
            <a:pathLst>
              <a:path h="10902073" w="19342388">
                <a:moveTo>
                  <a:pt x="0" y="0"/>
                </a:moveTo>
                <a:lnTo>
                  <a:pt x="19342388" y="0"/>
                </a:lnTo>
                <a:lnTo>
                  <a:pt x="19342388" y="10902074"/>
                </a:lnTo>
                <a:lnTo>
                  <a:pt x="0" y="10902074"/>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062241" y="5145308"/>
            <a:ext cx="14163518" cy="2272854"/>
          </a:xfrm>
          <a:prstGeom prst="rect">
            <a:avLst/>
          </a:prstGeom>
        </p:spPr>
        <p:txBody>
          <a:bodyPr anchor="t" rtlCol="false" tIns="0" lIns="0" bIns="0" rIns="0">
            <a:spAutoFit/>
          </a:bodyPr>
          <a:lstStyle/>
          <a:p>
            <a:pPr algn="ctr">
              <a:lnSpc>
                <a:spcPts val="14909"/>
              </a:lnSpc>
            </a:pPr>
            <a:r>
              <a:rPr lang="en-US" b="true" sz="17963" spc="-377">
                <a:solidFill>
                  <a:srgbClr val="134686"/>
                </a:solidFill>
                <a:latin typeface="Poppins Bold"/>
                <a:ea typeface="Poppins Bold"/>
                <a:cs typeface="Poppins Bold"/>
                <a:sym typeface="Poppins Bold"/>
              </a:rPr>
              <a:t>NGINX</a:t>
            </a:r>
          </a:p>
        </p:txBody>
      </p:sp>
      <p:sp>
        <p:nvSpPr>
          <p:cNvPr name="TextBox 4" id="4"/>
          <p:cNvSpPr txBox="true"/>
          <p:nvPr/>
        </p:nvSpPr>
        <p:spPr>
          <a:xfrm rot="0">
            <a:off x="2062241" y="3326038"/>
            <a:ext cx="14163518" cy="2272854"/>
          </a:xfrm>
          <a:prstGeom prst="rect">
            <a:avLst/>
          </a:prstGeom>
        </p:spPr>
        <p:txBody>
          <a:bodyPr anchor="t" rtlCol="false" tIns="0" lIns="0" bIns="0" rIns="0">
            <a:spAutoFit/>
          </a:bodyPr>
          <a:lstStyle/>
          <a:p>
            <a:pPr algn="ctr">
              <a:lnSpc>
                <a:spcPts val="14909"/>
              </a:lnSpc>
            </a:pPr>
            <a:r>
              <a:rPr lang="en-US" b="true" sz="17963" spc="-377">
                <a:solidFill>
                  <a:srgbClr val="ED3F27"/>
                </a:solidFill>
                <a:latin typeface="Poppins Bold"/>
                <a:ea typeface="Poppins Bold"/>
                <a:cs typeface="Poppins Bold"/>
                <a:sym typeface="Poppins Bold"/>
              </a:rPr>
              <a:t>TERAFORM</a:t>
            </a:r>
          </a:p>
        </p:txBody>
      </p:sp>
      <p:grpSp>
        <p:nvGrpSpPr>
          <p:cNvPr name="Group 5" id="5"/>
          <p:cNvGrpSpPr/>
          <p:nvPr/>
        </p:nvGrpSpPr>
        <p:grpSpPr>
          <a:xfrm rot="-392165">
            <a:off x="7566990" y="4797108"/>
            <a:ext cx="3154019" cy="692784"/>
            <a:chOff x="0" y="0"/>
            <a:chExt cx="733343" cy="161080"/>
          </a:xfrm>
        </p:grpSpPr>
        <p:sp>
          <p:nvSpPr>
            <p:cNvPr name="Freeform 6" id="6"/>
            <p:cNvSpPr/>
            <p:nvPr/>
          </p:nvSpPr>
          <p:spPr>
            <a:xfrm flipH="false" flipV="false" rot="0">
              <a:off x="0" y="0"/>
              <a:ext cx="733343" cy="161080"/>
            </a:xfrm>
            <a:custGeom>
              <a:avLst/>
              <a:gdLst/>
              <a:ahLst/>
              <a:cxnLst/>
              <a:rect r="r" b="b" t="t" l="l"/>
              <a:pathLst>
                <a:path h="161080" w="733343">
                  <a:moveTo>
                    <a:pt x="0" y="0"/>
                  </a:moveTo>
                  <a:lnTo>
                    <a:pt x="733343" y="0"/>
                  </a:lnTo>
                  <a:lnTo>
                    <a:pt x="733343" y="161080"/>
                  </a:lnTo>
                  <a:lnTo>
                    <a:pt x="0" y="161080"/>
                  </a:lnTo>
                  <a:close/>
                </a:path>
              </a:pathLst>
            </a:custGeom>
            <a:solidFill>
              <a:srgbClr val="424242"/>
            </a:solidFill>
          </p:spPr>
        </p:sp>
        <p:sp>
          <p:nvSpPr>
            <p:cNvPr name="TextBox 7" id="7"/>
            <p:cNvSpPr txBox="true"/>
            <p:nvPr/>
          </p:nvSpPr>
          <p:spPr>
            <a:xfrm>
              <a:off x="0" y="-9525"/>
              <a:ext cx="733343" cy="170605"/>
            </a:xfrm>
            <a:prstGeom prst="rect">
              <a:avLst/>
            </a:prstGeom>
          </p:spPr>
          <p:txBody>
            <a:bodyPr anchor="ctr" rtlCol="false" tIns="50800" lIns="50800" bIns="50800" rIns="50800"/>
            <a:lstStyle/>
            <a:p>
              <a:pPr algn="ctr">
                <a:lnSpc>
                  <a:spcPts val="2899"/>
                </a:lnSpc>
              </a:pPr>
              <a:r>
                <a:rPr lang="en-US" b="true" sz="2499" spc="24">
                  <a:solidFill>
                    <a:srgbClr val="FFFEF7"/>
                  </a:solidFill>
                  <a:latin typeface="Poppins Bold"/>
                  <a:ea typeface="Poppins Bold"/>
                  <a:cs typeface="Poppins Bold"/>
                  <a:sym typeface="Poppins Bold"/>
                </a:rPr>
                <a:t>PRESENTATION</a:t>
              </a:r>
            </a:p>
          </p:txBody>
        </p:sp>
      </p:grpSp>
      <p:sp>
        <p:nvSpPr>
          <p:cNvPr name="TextBox 8" id="8"/>
          <p:cNvSpPr txBox="true"/>
          <p:nvPr/>
        </p:nvSpPr>
        <p:spPr>
          <a:xfrm rot="0">
            <a:off x="2341438" y="2750357"/>
            <a:ext cx="13605124" cy="373872"/>
          </a:xfrm>
          <a:prstGeom prst="rect">
            <a:avLst/>
          </a:prstGeom>
        </p:spPr>
        <p:txBody>
          <a:bodyPr anchor="t" rtlCol="false" tIns="0" lIns="0" bIns="0" rIns="0">
            <a:spAutoFit/>
          </a:bodyPr>
          <a:lstStyle/>
          <a:p>
            <a:pPr algn="ctr">
              <a:lnSpc>
                <a:spcPts val="2722"/>
              </a:lnSpc>
            </a:pPr>
            <a:r>
              <a:rPr lang="en-US" sz="2346" spc="241">
                <a:solidFill>
                  <a:srgbClr val="424242"/>
                </a:solidFill>
                <a:latin typeface="Poppins"/>
                <a:ea typeface="Poppins"/>
                <a:cs typeface="Poppins"/>
                <a:sym typeface="Poppins"/>
              </a:rPr>
              <a:t>TEKNIK INFORMATIKA GOLONGAN D</a:t>
            </a:r>
          </a:p>
        </p:txBody>
      </p:sp>
      <p:sp>
        <p:nvSpPr>
          <p:cNvPr name="TextBox 9" id="9"/>
          <p:cNvSpPr txBox="true"/>
          <p:nvPr/>
        </p:nvSpPr>
        <p:spPr>
          <a:xfrm rot="0">
            <a:off x="2341438" y="7143721"/>
            <a:ext cx="13605124" cy="373872"/>
          </a:xfrm>
          <a:prstGeom prst="rect">
            <a:avLst/>
          </a:prstGeom>
        </p:spPr>
        <p:txBody>
          <a:bodyPr anchor="t" rtlCol="false" tIns="0" lIns="0" bIns="0" rIns="0">
            <a:spAutoFit/>
          </a:bodyPr>
          <a:lstStyle/>
          <a:p>
            <a:pPr algn="ctr">
              <a:lnSpc>
                <a:spcPts val="2722"/>
              </a:lnSpc>
            </a:pPr>
            <a:r>
              <a:rPr lang="en-US" sz="2346" spc="241">
                <a:solidFill>
                  <a:srgbClr val="424242"/>
                </a:solidFill>
                <a:latin typeface="Poppins"/>
                <a:ea typeface="Poppins"/>
                <a:cs typeface="Poppins"/>
                <a:sym typeface="Poppins"/>
              </a:rPr>
              <a:t>CANTIKA TRI WAHYUNI - E41231450</a:t>
            </a:r>
          </a:p>
        </p:txBody>
      </p:sp>
      <p:sp>
        <p:nvSpPr>
          <p:cNvPr name="TextBox 10" id="10"/>
          <p:cNvSpPr txBox="true"/>
          <p:nvPr/>
        </p:nvSpPr>
        <p:spPr>
          <a:xfrm rot="0">
            <a:off x="13436835" y="8933307"/>
            <a:ext cx="3822465" cy="324993"/>
          </a:xfrm>
          <a:prstGeom prst="rect">
            <a:avLst/>
          </a:prstGeom>
        </p:spPr>
        <p:txBody>
          <a:bodyPr anchor="t" rtlCol="false" tIns="0" lIns="0" bIns="0" rIns="0">
            <a:spAutoFit/>
          </a:bodyPr>
          <a:lstStyle/>
          <a:p>
            <a:pPr algn="r">
              <a:lnSpc>
                <a:spcPts val="2436"/>
              </a:lnSpc>
            </a:pPr>
            <a:r>
              <a:rPr lang="en-US" sz="2100" spc="21">
                <a:solidFill>
                  <a:srgbClr val="424242"/>
                </a:solidFill>
                <a:latin typeface="Poppins"/>
                <a:ea typeface="Poppins"/>
                <a:cs typeface="Poppins"/>
                <a:sym typeface="Poppins"/>
              </a:rPr>
              <a:t>Bapak Aqshal Iksan</a:t>
            </a:r>
          </a:p>
        </p:txBody>
      </p:sp>
      <p:sp>
        <p:nvSpPr>
          <p:cNvPr name="TextBox 11" id="11"/>
          <p:cNvSpPr txBox="true"/>
          <p:nvPr/>
        </p:nvSpPr>
        <p:spPr>
          <a:xfrm rot="0">
            <a:off x="13117775" y="8608314"/>
            <a:ext cx="4141525" cy="363983"/>
          </a:xfrm>
          <a:prstGeom prst="rect">
            <a:avLst/>
          </a:prstGeom>
        </p:spPr>
        <p:txBody>
          <a:bodyPr anchor="t" rtlCol="false" tIns="0" lIns="0" bIns="0" rIns="0">
            <a:spAutoFit/>
          </a:bodyPr>
          <a:lstStyle/>
          <a:p>
            <a:pPr algn="r">
              <a:lnSpc>
                <a:spcPts val="2639"/>
              </a:lnSpc>
            </a:pPr>
            <a:r>
              <a:rPr lang="en-US" b="true" sz="2275" spc="22">
                <a:solidFill>
                  <a:srgbClr val="424242"/>
                </a:solidFill>
                <a:latin typeface="Poppins Bold"/>
                <a:ea typeface="Poppins Bold"/>
                <a:cs typeface="Poppins Bold"/>
                <a:sym typeface="Poppins Bold"/>
              </a:rPr>
              <a:t>Maret </a:t>
            </a:r>
            <a:r>
              <a:rPr lang="en-US" b="true" sz="2275" spc="22">
                <a:solidFill>
                  <a:srgbClr val="424242"/>
                </a:solidFill>
                <a:latin typeface="Poppins Bold"/>
                <a:ea typeface="Poppins Bold"/>
                <a:cs typeface="Poppins Bold"/>
                <a:sym typeface="Poppins Bold"/>
              </a:rPr>
              <a:t>03, 2026</a:t>
            </a:r>
          </a:p>
        </p:txBody>
      </p:sp>
      <p:sp>
        <p:nvSpPr>
          <p:cNvPr name="TextBox 12" id="12"/>
          <p:cNvSpPr txBox="true"/>
          <p:nvPr/>
        </p:nvSpPr>
        <p:spPr>
          <a:xfrm rot="0">
            <a:off x="1028700" y="8933307"/>
            <a:ext cx="2901562" cy="324993"/>
          </a:xfrm>
          <a:prstGeom prst="rect">
            <a:avLst/>
          </a:prstGeom>
        </p:spPr>
        <p:txBody>
          <a:bodyPr anchor="t" rtlCol="false" tIns="0" lIns="0" bIns="0" rIns="0">
            <a:spAutoFit/>
          </a:bodyPr>
          <a:lstStyle/>
          <a:p>
            <a:pPr algn="l">
              <a:lnSpc>
                <a:spcPts val="2436"/>
              </a:lnSpc>
            </a:pPr>
            <a:r>
              <a:rPr lang="en-US" sz="2100" spc="21">
                <a:solidFill>
                  <a:srgbClr val="424242"/>
                </a:solidFill>
                <a:latin typeface="Poppins"/>
                <a:ea typeface="Poppins"/>
                <a:cs typeface="Poppins"/>
                <a:sym typeface="Poppins"/>
              </a:rPr>
              <a:t>Acaa</a:t>
            </a:r>
          </a:p>
        </p:txBody>
      </p:sp>
      <p:sp>
        <p:nvSpPr>
          <p:cNvPr name="TextBox 13" id="13"/>
          <p:cNvSpPr txBox="true"/>
          <p:nvPr/>
        </p:nvSpPr>
        <p:spPr>
          <a:xfrm rot="0">
            <a:off x="1028700" y="8617839"/>
            <a:ext cx="2901562" cy="324993"/>
          </a:xfrm>
          <a:prstGeom prst="rect">
            <a:avLst/>
          </a:prstGeom>
        </p:spPr>
        <p:txBody>
          <a:bodyPr anchor="t" rtlCol="false" tIns="0" lIns="0" bIns="0" rIns="0">
            <a:spAutoFit/>
          </a:bodyPr>
          <a:lstStyle/>
          <a:p>
            <a:pPr algn="l">
              <a:lnSpc>
                <a:spcPts val="2436"/>
              </a:lnSpc>
            </a:pPr>
            <a:r>
              <a:rPr lang="en-US" b="true" sz="2100" spc="21">
                <a:solidFill>
                  <a:srgbClr val="424242"/>
                </a:solidFill>
                <a:latin typeface="Poppins Bold"/>
                <a:ea typeface="Poppins Bold"/>
                <a:cs typeface="Poppins Bold"/>
                <a:sym typeface="Poppins Bold"/>
              </a:rPr>
              <a:t>Presented By</a:t>
            </a:r>
          </a:p>
        </p:txBody>
      </p:sp>
      <p:sp>
        <p:nvSpPr>
          <p:cNvPr name="TextBox 14" id="14"/>
          <p:cNvSpPr txBox="true"/>
          <p:nvPr/>
        </p:nvSpPr>
        <p:spPr>
          <a:xfrm rot="0">
            <a:off x="1028700" y="971550"/>
            <a:ext cx="2901562" cy="358775"/>
          </a:xfrm>
          <a:prstGeom prst="rect">
            <a:avLst/>
          </a:prstGeom>
        </p:spPr>
        <p:txBody>
          <a:bodyPr anchor="t" rtlCol="false" tIns="0" lIns="0" bIns="0" rIns="0">
            <a:spAutoFit/>
          </a:bodyPr>
          <a:lstStyle/>
          <a:p>
            <a:pPr algn="l">
              <a:lnSpc>
                <a:spcPts val="2799"/>
              </a:lnSpc>
            </a:pPr>
            <a:r>
              <a:rPr lang="en-US" sz="1999" spc="19">
                <a:solidFill>
                  <a:srgbClr val="424242"/>
                </a:solidFill>
                <a:latin typeface="Poppins"/>
                <a:ea typeface="Poppins"/>
                <a:cs typeface="Poppins"/>
                <a:sym typeface="Poppins"/>
              </a:rPr>
              <a:t>WORKSHOP</a:t>
            </a:r>
          </a:p>
        </p:txBody>
      </p:sp>
      <p:sp>
        <p:nvSpPr>
          <p:cNvPr name="TextBox 15" id="15"/>
          <p:cNvSpPr txBox="true"/>
          <p:nvPr/>
        </p:nvSpPr>
        <p:spPr>
          <a:xfrm rot="0">
            <a:off x="12541172" y="971550"/>
            <a:ext cx="4718128" cy="358775"/>
          </a:xfrm>
          <a:prstGeom prst="rect">
            <a:avLst/>
          </a:prstGeom>
        </p:spPr>
        <p:txBody>
          <a:bodyPr anchor="t" rtlCol="false" tIns="0" lIns="0" bIns="0" rIns="0">
            <a:spAutoFit/>
          </a:bodyPr>
          <a:lstStyle/>
          <a:p>
            <a:pPr algn="r">
              <a:lnSpc>
                <a:spcPts val="2799"/>
              </a:lnSpc>
            </a:pPr>
            <a:r>
              <a:rPr lang="en-US" sz="1999" spc="19">
                <a:solidFill>
                  <a:srgbClr val="424242"/>
                </a:solidFill>
                <a:latin typeface="Poppins"/>
                <a:ea typeface="Poppins"/>
                <a:cs typeface="Poppins"/>
                <a:sym typeface="Poppins"/>
              </a:rPr>
              <a:t>DEVELOPER OPERATIONAL</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FEF7"/>
        </a:solidFill>
      </p:bgPr>
    </p:bg>
    <p:spTree>
      <p:nvGrpSpPr>
        <p:cNvPr id="1" name=""/>
        <p:cNvGrpSpPr/>
        <p:nvPr/>
      </p:nvGrpSpPr>
      <p:grpSpPr>
        <a:xfrm>
          <a:off x="0" y="0"/>
          <a:ext cx="0" cy="0"/>
          <a:chOff x="0" y="0"/>
          <a:chExt cx="0" cy="0"/>
        </a:xfrm>
      </p:grpSpPr>
      <p:sp>
        <p:nvSpPr>
          <p:cNvPr name="Freeform 2" id="2"/>
          <p:cNvSpPr/>
          <p:nvPr/>
        </p:nvSpPr>
        <p:spPr>
          <a:xfrm flipH="true" flipV="true" rot="0">
            <a:off x="-527194" y="-307537"/>
            <a:ext cx="19342388" cy="10902073"/>
          </a:xfrm>
          <a:custGeom>
            <a:avLst/>
            <a:gdLst/>
            <a:ahLst/>
            <a:cxnLst/>
            <a:rect r="r" b="b" t="t" l="l"/>
            <a:pathLst>
              <a:path h="10902073" w="19342388">
                <a:moveTo>
                  <a:pt x="19342388" y="10902074"/>
                </a:moveTo>
                <a:lnTo>
                  <a:pt x="0" y="10902074"/>
                </a:lnTo>
                <a:lnTo>
                  <a:pt x="0" y="0"/>
                </a:lnTo>
                <a:lnTo>
                  <a:pt x="19342388" y="0"/>
                </a:lnTo>
                <a:lnTo>
                  <a:pt x="19342388" y="10902074"/>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3776997"/>
            <a:ext cx="9123953" cy="1467685"/>
          </a:xfrm>
          <a:prstGeom prst="rect">
            <a:avLst/>
          </a:prstGeom>
        </p:spPr>
        <p:txBody>
          <a:bodyPr anchor="t" rtlCol="false" tIns="0" lIns="0" bIns="0" rIns="0">
            <a:spAutoFit/>
          </a:bodyPr>
          <a:lstStyle/>
          <a:p>
            <a:pPr algn="l">
              <a:lnSpc>
                <a:spcPts val="9604"/>
              </a:lnSpc>
            </a:pPr>
            <a:r>
              <a:rPr lang="en-US" b="true" sz="11571" spc="-243">
                <a:solidFill>
                  <a:srgbClr val="134686"/>
                </a:solidFill>
                <a:latin typeface="Poppins Bold"/>
                <a:ea typeface="Poppins Bold"/>
                <a:cs typeface="Poppins Bold"/>
                <a:sym typeface="Poppins Bold"/>
              </a:rPr>
              <a:t>P</a:t>
            </a:r>
            <a:r>
              <a:rPr lang="en-US" b="true" sz="11571" spc="-243">
                <a:solidFill>
                  <a:srgbClr val="134686"/>
                </a:solidFill>
                <a:latin typeface="Poppins Bold"/>
                <a:ea typeface="Poppins Bold"/>
                <a:cs typeface="Poppins Bold"/>
                <a:sym typeface="Poppins Bold"/>
              </a:rPr>
              <a:t>ROJECT</a:t>
            </a:r>
          </a:p>
        </p:txBody>
      </p:sp>
      <p:sp>
        <p:nvSpPr>
          <p:cNvPr name="TextBox 4" id="4"/>
          <p:cNvSpPr txBox="true"/>
          <p:nvPr/>
        </p:nvSpPr>
        <p:spPr>
          <a:xfrm rot="0">
            <a:off x="1028700" y="2474425"/>
            <a:ext cx="9123953" cy="1467685"/>
          </a:xfrm>
          <a:prstGeom prst="rect">
            <a:avLst/>
          </a:prstGeom>
        </p:spPr>
        <p:txBody>
          <a:bodyPr anchor="t" rtlCol="false" tIns="0" lIns="0" bIns="0" rIns="0">
            <a:spAutoFit/>
          </a:bodyPr>
          <a:lstStyle/>
          <a:p>
            <a:pPr algn="l">
              <a:lnSpc>
                <a:spcPts val="9604"/>
              </a:lnSpc>
            </a:pPr>
            <a:r>
              <a:rPr lang="en-US" b="true" sz="11571" spc="-243">
                <a:solidFill>
                  <a:srgbClr val="ED3F27"/>
                </a:solidFill>
                <a:latin typeface="Poppins Bold"/>
                <a:ea typeface="Poppins Bold"/>
                <a:cs typeface="Poppins Bold"/>
                <a:sym typeface="Poppins Bold"/>
              </a:rPr>
              <a:t>STRUK</a:t>
            </a:r>
            <a:r>
              <a:rPr lang="en-US" b="true" sz="11571" spc="-243">
                <a:solidFill>
                  <a:srgbClr val="ED3F27"/>
                </a:solidFill>
                <a:latin typeface="Poppins Bold"/>
                <a:ea typeface="Poppins Bold"/>
                <a:cs typeface="Poppins Bold"/>
                <a:sym typeface="Poppins Bold"/>
              </a:rPr>
              <a:t>TUR </a:t>
            </a:r>
          </a:p>
        </p:txBody>
      </p:sp>
      <p:grpSp>
        <p:nvGrpSpPr>
          <p:cNvPr name="Group 5" id="5"/>
          <p:cNvGrpSpPr/>
          <p:nvPr/>
        </p:nvGrpSpPr>
        <p:grpSpPr>
          <a:xfrm rot="353994">
            <a:off x="5788463" y="1710043"/>
            <a:ext cx="2865624" cy="692784"/>
            <a:chOff x="0" y="0"/>
            <a:chExt cx="666288" cy="161080"/>
          </a:xfrm>
        </p:grpSpPr>
        <p:sp>
          <p:nvSpPr>
            <p:cNvPr name="Freeform 6" id="6"/>
            <p:cNvSpPr/>
            <p:nvPr/>
          </p:nvSpPr>
          <p:spPr>
            <a:xfrm flipH="false" flipV="false" rot="0">
              <a:off x="0" y="0"/>
              <a:ext cx="666288" cy="161080"/>
            </a:xfrm>
            <a:custGeom>
              <a:avLst/>
              <a:gdLst/>
              <a:ahLst/>
              <a:cxnLst/>
              <a:rect r="r" b="b" t="t" l="l"/>
              <a:pathLst>
                <a:path h="161080" w="666288">
                  <a:moveTo>
                    <a:pt x="0" y="0"/>
                  </a:moveTo>
                  <a:lnTo>
                    <a:pt x="666288" y="0"/>
                  </a:lnTo>
                  <a:lnTo>
                    <a:pt x="666288" y="161080"/>
                  </a:lnTo>
                  <a:lnTo>
                    <a:pt x="0" y="161080"/>
                  </a:lnTo>
                  <a:close/>
                </a:path>
              </a:pathLst>
            </a:custGeom>
            <a:solidFill>
              <a:srgbClr val="424242"/>
            </a:solidFill>
          </p:spPr>
        </p:sp>
        <p:sp>
          <p:nvSpPr>
            <p:cNvPr name="TextBox 7" id="7"/>
            <p:cNvSpPr txBox="true"/>
            <p:nvPr/>
          </p:nvSpPr>
          <p:spPr>
            <a:xfrm>
              <a:off x="0" y="-9525"/>
              <a:ext cx="666288" cy="170605"/>
            </a:xfrm>
            <a:prstGeom prst="rect">
              <a:avLst/>
            </a:prstGeom>
          </p:spPr>
          <p:txBody>
            <a:bodyPr anchor="ctr" rtlCol="false" tIns="50800" lIns="50800" bIns="50800" rIns="50800"/>
            <a:lstStyle/>
            <a:p>
              <a:pPr algn="ctr">
                <a:lnSpc>
                  <a:spcPts val="2899"/>
                </a:lnSpc>
              </a:pPr>
              <a:r>
                <a:rPr lang="en-US" b="true" sz="2499" spc="24">
                  <a:solidFill>
                    <a:srgbClr val="FFFEF7"/>
                  </a:solidFill>
                  <a:latin typeface="Poppins Bold"/>
                  <a:ea typeface="Poppins Bold"/>
                  <a:cs typeface="Poppins Bold"/>
                  <a:sym typeface="Poppins Bold"/>
                </a:rPr>
                <a:t>PRESENTATION</a:t>
              </a:r>
            </a:p>
          </p:txBody>
        </p:sp>
      </p:grpSp>
      <p:sp>
        <p:nvSpPr>
          <p:cNvPr name="Freeform 8" id="8"/>
          <p:cNvSpPr/>
          <p:nvPr/>
        </p:nvSpPr>
        <p:spPr>
          <a:xfrm flipH="false" flipV="false" rot="0">
            <a:off x="10469112" y="1028700"/>
            <a:ext cx="6508865" cy="8229600"/>
          </a:xfrm>
          <a:custGeom>
            <a:avLst/>
            <a:gdLst/>
            <a:ahLst/>
            <a:cxnLst/>
            <a:rect r="r" b="b" t="t" l="l"/>
            <a:pathLst>
              <a:path h="8229600" w="6508865">
                <a:moveTo>
                  <a:pt x="0" y="0"/>
                </a:moveTo>
                <a:lnTo>
                  <a:pt x="6508866" y="0"/>
                </a:lnTo>
                <a:lnTo>
                  <a:pt x="6508866" y="8229600"/>
                </a:lnTo>
                <a:lnTo>
                  <a:pt x="0" y="8229600"/>
                </a:lnTo>
                <a:lnTo>
                  <a:pt x="0" y="0"/>
                </a:lnTo>
                <a:close/>
              </a:path>
            </a:pathLst>
          </a:custGeom>
          <a:blipFill>
            <a:blip r:embed="rId4"/>
            <a:stretch>
              <a:fillRect l="0" t="0" r="0" b="0"/>
            </a:stretch>
          </a:blipFill>
        </p:spPr>
      </p:sp>
      <p:sp>
        <p:nvSpPr>
          <p:cNvPr name="TextBox 9" id="9"/>
          <p:cNvSpPr txBox="true"/>
          <p:nvPr/>
        </p:nvSpPr>
        <p:spPr>
          <a:xfrm rot="0">
            <a:off x="1028700" y="5647436"/>
            <a:ext cx="7653403" cy="2486025"/>
          </a:xfrm>
          <a:prstGeom prst="rect">
            <a:avLst/>
          </a:prstGeom>
        </p:spPr>
        <p:txBody>
          <a:bodyPr anchor="t" rtlCol="false" tIns="0" lIns="0" bIns="0" rIns="0">
            <a:spAutoFit/>
          </a:bodyPr>
          <a:lstStyle/>
          <a:p>
            <a:pPr algn="l">
              <a:lnSpc>
                <a:spcPts val="3780"/>
              </a:lnSpc>
            </a:pPr>
            <a:r>
              <a:rPr lang="en-US" sz="2700">
                <a:solidFill>
                  <a:srgbClr val="424242"/>
                </a:solidFill>
                <a:latin typeface="Poppins"/>
                <a:ea typeface="Poppins"/>
                <a:cs typeface="Poppins"/>
                <a:sym typeface="Poppins"/>
              </a:rPr>
              <a:t>P</a:t>
            </a:r>
            <a:r>
              <a:rPr lang="en-US" sz="2700">
                <a:solidFill>
                  <a:srgbClr val="424242"/>
                </a:solidFill>
                <a:latin typeface="Poppins"/>
                <a:ea typeface="Poppins"/>
                <a:cs typeface="Poppins"/>
                <a:sym typeface="Poppins"/>
              </a:rPr>
              <a:t>enjelasan:</a:t>
            </a:r>
          </a:p>
          <a:p>
            <a:pPr algn="l" marL="582932" indent="-291466" lvl="1">
              <a:lnSpc>
                <a:spcPts val="3780"/>
              </a:lnSpc>
              <a:buFont typeface="Arial"/>
              <a:buChar char="•"/>
            </a:pPr>
            <a:r>
              <a:rPr lang="en-US" sz="2700">
                <a:solidFill>
                  <a:srgbClr val="424242"/>
                </a:solidFill>
                <a:latin typeface="Poppins"/>
                <a:ea typeface="Poppins"/>
                <a:cs typeface="Poppins"/>
                <a:sym typeface="Poppins"/>
              </a:rPr>
              <a:t>main.tf → File utama</a:t>
            </a:r>
          </a:p>
          <a:p>
            <a:pPr algn="l" marL="582932" indent="-291466" lvl="1">
              <a:lnSpc>
                <a:spcPts val="3780"/>
              </a:lnSpc>
              <a:buFont typeface="Arial"/>
              <a:buChar char="•"/>
            </a:pPr>
            <a:r>
              <a:rPr lang="en-US" sz="2700">
                <a:solidFill>
                  <a:srgbClr val="424242"/>
                </a:solidFill>
                <a:latin typeface="Poppins"/>
                <a:ea typeface="Poppins"/>
                <a:cs typeface="Poppins"/>
                <a:sym typeface="Poppins"/>
              </a:rPr>
              <a:t>modules → Reusable components</a:t>
            </a:r>
          </a:p>
          <a:p>
            <a:pPr algn="l" marL="582932" indent="-291466" lvl="1">
              <a:lnSpc>
                <a:spcPts val="3780"/>
              </a:lnSpc>
              <a:buFont typeface="Arial"/>
              <a:buChar char="•"/>
            </a:pPr>
            <a:r>
              <a:rPr lang="en-US" sz="2700">
                <a:solidFill>
                  <a:srgbClr val="424242"/>
                </a:solidFill>
                <a:latin typeface="Poppins"/>
                <a:ea typeface="Poppins"/>
                <a:cs typeface="Poppins"/>
                <a:sym typeface="Poppins"/>
              </a:rPr>
              <a:t>nginx.conf → Konfigurasi Load Balancer</a:t>
            </a:r>
          </a:p>
          <a:p>
            <a:pPr algn="l">
              <a:lnSpc>
                <a:spcPts val="4619"/>
              </a:lnSpc>
              <a:spcBef>
                <a:spcPct val="0"/>
              </a:spcBef>
            </a:pPr>
          </a:p>
        </p:txBody>
      </p:sp>
      <p:sp>
        <p:nvSpPr>
          <p:cNvPr name="TextBox 10" id="10"/>
          <p:cNvSpPr txBox="true"/>
          <p:nvPr/>
        </p:nvSpPr>
        <p:spPr>
          <a:xfrm rot="0">
            <a:off x="1028700" y="971550"/>
            <a:ext cx="4194346" cy="358775"/>
          </a:xfrm>
          <a:prstGeom prst="rect">
            <a:avLst/>
          </a:prstGeom>
        </p:spPr>
        <p:txBody>
          <a:bodyPr anchor="t" rtlCol="false" tIns="0" lIns="0" bIns="0" rIns="0">
            <a:spAutoFit/>
          </a:bodyPr>
          <a:lstStyle/>
          <a:p>
            <a:pPr algn="l">
              <a:lnSpc>
                <a:spcPts val="2799"/>
              </a:lnSpc>
            </a:pPr>
            <a:r>
              <a:rPr lang="en-US" sz="1999" spc="19">
                <a:solidFill>
                  <a:srgbClr val="424242"/>
                </a:solidFill>
                <a:latin typeface="Poppins"/>
                <a:ea typeface="Poppins"/>
                <a:cs typeface="Poppins"/>
                <a:sym typeface="Poppins"/>
              </a:rPr>
              <a:t>DEVELOPER OPERATIONAL</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FEF7"/>
        </a:solidFill>
      </p:bgPr>
    </p:bg>
    <p:spTree>
      <p:nvGrpSpPr>
        <p:cNvPr id="1" name=""/>
        <p:cNvGrpSpPr/>
        <p:nvPr/>
      </p:nvGrpSpPr>
      <p:grpSpPr>
        <a:xfrm>
          <a:off x="0" y="0"/>
          <a:ext cx="0" cy="0"/>
          <a:chOff x="0" y="0"/>
          <a:chExt cx="0" cy="0"/>
        </a:xfrm>
      </p:grpSpPr>
      <p:sp>
        <p:nvSpPr>
          <p:cNvPr name="Freeform 2" id="2"/>
          <p:cNvSpPr/>
          <p:nvPr/>
        </p:nvSpPr>
        <p:spPr>
          <a:xfrm flipH="false" flipV="false" rot="-916294">
            <a:off x="-527194" y="-307537"/>
            <a:ext cx="19342388" cy="10902073"/>
          </a:xfrm>
          <a:custGeom>
            <a:avLst/>
            <a:gdLst/>
            <a:ahLst/>
            <a:cxnLst/>
            <a:rect r="r" b="b" t="t" l="l"/>
            <a:pathLst>
              <a:path h="10902073" w="19342388">
                <a:moveTo>
                  <a:pt x="0" y="0"/>
                </a:moveTo>
                <a:lnTo>
                  <a:pt x="19342388" y="0"/>
                </a:lnTo>
                <a:lnTo>
                  <a:pt x="19342388" y="10902074"/>
                </a:lnTo>
                <a:lnTo>
                  <a:pt x="0" y="10902074"/>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493371" y="3487830"/>
            <a:ext cx="11301259" cy="4492250"/>
          </a:xfrm>
          <a:custGeom>
            <a:avLst/>
            <a:gdLst/>
            <a:ahLst/>
            <a:cxnLst/>
            <a:rect r="r" b="b" t="t" l="l"/>
            <a:pathLst>
              <a:path h="4492250" w="11301259">
                <a:moveTo>
                  <a:pt x="0" y="0"/>
                </a:moveTo>
                <a:lnTo>
                  <a:pt x="11301258" y="0"/>
                </a:lnTo>
                <a:lnTo>
                  <a:pt x="11301258" y="4492251"/>
                </a:lnTo>
                <a:lnTo>
                  <a:pt x="0" y="4492251"/>
                </a:lnTo>
                <a:lnTo>
                  <a:pt x="0" y="0"/>
                </a:lnTo>
                <a:close/>
              </a:path>
            </a:pathLst>
          </a:custGeom>
          <a:blipFill>
            <a:blip r:embed="rId4"/>
            <a:stretch>
              <a:fillRect l="0" t="0" r="0" b="0"/>
            </a:stretch>
          </a:blipFill>
        </p:spPr>
      </p:sp>
      <p:sp>
        <p:nvSpPr>
          <p:cNvPr name="TextBox 4" id="4"/>
          <p:cNvSpPr txBox="true"/>
          <p:nvPr/>
        </p:nvSpPr>
        <p:spPr>
          <a:xfrm rot="0">
            <a:off x="1830986" y="1663700"/>
            <a:ext cx="14626028" cy="1634667"/>
          </a:xfrm>
          <a:prstGeom prst="rect">
            <a:avLst/>
          </a:prstGeom>
        </p:spPr>
        <p:txBody>
          <a:bodyPr anchor="t" rtlCol="false" tIns="0" lIns="0" bIns="0" rIns="0">
            <a:spAutoFit/>
          </a:bodyPr>
          <a:lstStyle/>
          <a:p>
            <a:pPr algn="ctr">
              <a:lnSpc>
                <a:spcPts val="10719"/>
              </a:lnSpc>
            </a:pPr>
            <a:r>
              <a:rPr lang="en-US" b="true" sz="12915" spc="-271">
                <a:solidFill>
                  <a:srgbClr val="134686"/>
                </a:solidFill>
                <a:latin typeface="Poppins Bold"/>
                <a:ea typeface="Poppins Bold"/>
                <a:cs typeface="Poppins Bold"/>
                <a:sym typeface="Poppins Bold"/>
              </a:rPr>
              <a:t>TERAFORM INIT</a:t>
            </a:r>
          </a:p>
        </p:txBody>
      </p:sp>
      <p:sp>
        <p:nvSpPr>
          <p:cNvPr name="TextBox 5" id="5"/>
          <p:cNvSpPr txBox="true"/>
          <p:nvPr/>
        </p:nvSpPr>
        <p:spPr>
          <a:xfrm rot="0">
            <a:off x="5866186" y="8103906"/>
            <a:ext cx="6555627" cy="1739943"/>
          </a:xfrm>
          <a:prstGeom prst="rect">
            <a:avLst/>
          </a:prstGeom>
        </p:spPr>
        <p:txBody>
          <a:bodyPr anchor="t" rtlCol="false" tIns="0" lIns="0" bIns="0" rIns="0">
            <a:spAutoFit/>
          </a:bodyPr>
          <a:lstStyle/>
          <a:p>
            <a:pPr algn="ctr">
              <a:lnSpc>
                <a:spcPts val="3467"/>
              </a:lnSpc>
            </a:pPr>
            <a:r>
              <a:rPr lang="en-US" sz="2476">
                <a:solidFill>
                  <a:srgbClr val="424242"/>
                </a:solidFill>
                <a:latin typeface="Poppins"/>
                <a:ea typeface="Poppins"/>
                <a:cs typeface="Poppins"/>
                <a:sym typeface="Poppins"/>
              </a:rPr>
              <a:t>Fungsi:</a:t>
            </a:r>
          </a:p>
          <a:p>
            <a:pPr algn="ctr" marL="534690" indent="-267345" lvl="1">
              <a:lnSpc>
                <a:spcPts val="3467"/>
              </a:lnSpc>
              <a:buFont typeface="Arial"/>
              <a:buChar char="•"/>
            </a:pPr>
            <a:r>
              <a:rPr lang="en-US" sz="2476">
                <a:solidFill>
                  <a:srgbClr val="424242"/>
                </a:solidFill>
                <a:latin typeface="Poppins"/>
                <a:ea typeface="Poppins"/>
                <a:cs typeface="Poppins"/>
                <a:sym typeface="Poppins"/>
              </a:rPr>
              <a:t>M</a:t>
            </a:r>
            <a:r>
              <a:rPr lang="en-US" sz="2476">
                <a:solidFill>
                  <a:srgbClr val="424242"/>
                </a:solidFill>
                <a:latin typeface="Poppins"/>
                <a:ea typeface="Poppins"/>
                <a:cs typeface="Poppins"/>
                <a:sym typeface="Poppins"/>
              </a:rPr>
              <a:t>engunduh provider Docker</a:t>
            </a:r>
          </a:p>
          <a:p>
            <a:pPr algn="ctr" marL="534690" indent="-267345" lvl="1">
              <a:lnSpc>
                <a:spcPts val="3467"/>
              </a:lnSpc>
              <a:buFont typeface="Arial"/>
              <a:buChar char="•"/>
            </a:pPr>
            <a:r>
              <a:rPr lang="en-US" sz="2476">
                <a:solidFill>
                  <a:srgbClr val="424242"/>
                </a:solidFill>
                <a:latin typeface="Poppins"/>
                <a:ea typeface="Poppins"/>
                <a:cs typeface="Poppins"/>
                <a:sym typeface="Poppins"/>
              </a:rPr>
              <a:t>Menyiapkan environment Terraform</a:t>
            </a:r>
          </a:p>
          <a:p>
            <a:pPr algn="ctr">
              <a:lnSpc>
                <a:spcPts val="3467"/>
              </a:lnSpc>
              <a:spcBef>
                <a:spcPct val="0"/>
              </a:spcBef>
            </a:pPr>
          </a:p>
        </p:txBody>
      </p:sp>
      <p:sp>
        <p:nvSpPr>
          <p:cNvPr name="TextBox 6" id="6"/>
          <p:cNvSpPr txBox="true"/>
          <p:nvPr/>
        </p:nvSpPr>
        <p:spPr>
          <a:xfrm rot="0">
            <a:off x="1028700" y="971550"/>
            <a:ext cx="3606717" cy="358775"/>
          </a:xfrm>
          <a:prstGeom prst="rect">
            <a:avLst/>
          </a:prstGeom>
        </p:spPr>
        <p:txBody>
          <a:bodyPr anchor="t" rtlCol="false" tIns="0" lIns="0" bIns="0" rIns="0">
            <a:spAutoFit/>
          </a:bodyPr>
          <a:lstStyle/>
          <a:p>
            <a:pPr algn="l">
              <a:lnSpc>
                <a:spcPts val="2799"/>
              </a:lnSpc>
            </a:pPr>
            <a:r>
              <a:rPr lang="en-US" sz="1999" spc="19">
                <a:solidFill>
                  <a:srgbClr val="424242"/>
                </a:solidFill>
                <a:latin typeface="Poppins"/>
                <a:ea typeface="Poppins"/>
                <a:cs typeface="Poppins"/>
                <a:sym typeface="Poppins"/>
              </a:rPr>
              <a:t>DEVELOPER OPERATIONAL</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FEF7"/>
        </a:solidFill>
      </p:bgPr>
    </p:bg>
    <p:spTree>
      <p:nvGrpSpPr>
        <p:cNvPr id="1" name=""/>
        <p:cNvGrpSpPr/>
        <p:nvPr/>
      </p:nvGrpSpPr>
      <p:grpSpPr>
        <a:xfrm>
          <a:off x="0" y="0"/>
          <a:ext cx="0" cy="0"/>
          <a:chOff x="0" y="0"/>
          <a:chExt cx="0" cy="0"/>
        </a:xfrm>
      </p:grpSpPr>
      <p:sp>
        <p:nvSpPr>
          <p:cNvPr name="Freeform 2" id="2"/>
          <p:cNvSpPr/>
          <p:nvPr/>
        </p:nvSpPr>
        <p:spPr>
          <a:xfrm flipH="false" flipV="false" rot="-711165">
            <a:off x="-527194" y="-307537"/>
            <a:ext cx="19342388" cy="10902073"/>
          </a:xfrm>
          <a:custGeom>
            <a:avLst/>
            <a:gdLst/>
            <a:ahLst/>
            <a:cxnLst/>
            <a:rect r="r" b="b" t="t" l="l"/>
            <a:pathLst>
              <a:path h="10902073" w="19342388">
                <a:moveTo>
                  <a:pt x="0" y="0"/>
                </a:moveTo>
                <a:lnTo>
                  <a:pt x="19342388" y="0"/>
                </a:lnTo>
                <a:lnTo>
                  <a:pt x="19342388" y="10902074"/>
                </a:lnTo>
                <a:lnTo>
                  <a:pt x="0" y="10902074"/>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3143635"/>
            <a:ext cx="11826849" cy="5292515"/>
          </a:xfrm>
          <a:custGeom>
            <a:avLst/>
            <a:gdLst/>
            <a:ahLst/>
            <a:cxnLst/>
            <a:rect r="r" b="b" t="t" l="l"/>
            <a:pathLst>
              <a:path h="5292515" w="11826849">
                <a:moveTo>
                  <a:pt x="0" y="0"/>
                </a:moveTo>
                <a:lnTo>
                  <a:pt x="11826849" y="0"/>
                </a:lnTo>
                <a:lnTo>
                  <a:pt x="11826849" y="5292515"/>
                </a:lnTo>
                <a:lnTo>
                  <a:pt x="0" y="5292515"/>
                </a:lnTo>
                <a:lnTo>
                  <a:pt x="0" y="0"/>
                </a:lnTo>
                <a:close/>
              </a:path>
            </a:pathLst>
          </a:custGeom>
          <a:blipFill>
            <a:blip r:embed="rId4"/>
            <a:stretch>
              <a:fillRect l="0" t="0" r="0" b="0"/>
            </a:stretch>
          </a:blipFill>
        </p:spPr>
      </p:sp>
      <p:sp>
        <p:nvSpPr>
          <p:cNvPr name="TextBox 4" id="4"/>
          <p:cNvSpPr txBox="true"/>
          <p:nvPr/>
        </p:nvSpPr>
        <p:spPr>
          <a:xfrm rot="0">
            <a:off x="8648292" y="966108"/>
            <a:ext cx="9344320" cy="1485524"/>
          </a:xfrm>
          <a:prstGeom prst="rect">
            <a:avLst/>
          </a:prstGeom>
        </p:spPr>
        <p:txBody>
          <a:bodyPr anchor="t" rtlCol="false" tIns="0" lIns="0" bIns="0" rIns="0">
            <a:spAutoFit/>
          </a:bodyPr>
          <a:lstStyle/>
          <a:p>
            <a:pPr algn="l">
              <a:lnSpc>
                <a:spcPts val="9751"/>
              </a:lnSpc>
            </a:pPr>
            <a:r>
              <a:rPr lang="en-US" b="true" sz="11748" spc="-246">
                <a:solidFill>
                  <a:srgbClr val="ED3F27"/>
                </a:solidFill>
                <a:latin typeface="Poppins Bold"/>
                <a:ea typeface="Poppins Bold"/>
                <a:cs typeface="Poppins Bold"/>
                <a:sym typeface="Poppins Bold"/>
              </a:rPr>
              <a:t>TERRAFORM </a:t>
            </a:r>
          </a:p>
        </p:txBody>
      </p:sp>
      <p:sp>
        <p:nvSpPr>
          <p:cNvPr name="TextBox 5" id="5"/>
          <p:cNvSpPr txBox="true"/>
          <p:nvPr/>
        </p:nvSpPr>
        <p:spPr>
          <a:xfrm rot="0">
            <a:off x="12977160" y="2130140"/>
            <a:ext cx="6425762" cy="1485524"/>
          </a:xfrm>
          <a:prstGeom prst="rect">
            <a:avLst/>
          </a:prstGeom>
        </p:spPr>
        <p:txBody>
          <a:bodyPr anchor="t" rtlCol="false" tIns="0" lIns="0" bIns="0" rIns="0">
            <a:spAutoFit/>
          </a:bodyPr>
          <a:lstStyle/>
          <a:p>
            <a:pPr algn="l">
              <a:lnSpc>
                <a:spcPts val="9751"/>
              </a:lnSpc>
            </a:pPr>
            <a:r>
              <a:rPr lang="en-US" b="true" sz="11748" spc="-246">
                <a:solidFill>
                  <a:srgbClr val="134686"/>
                </a:solidFill>
                <a:latin typeface="Poppins Bold"/>
                <a:ea typeface="Poppins Bold"/>
                <a:cs typeface="Poppins Bold"/>
                <a:sym typeface="Poppins Bold"/>
              </a:rPr>
              <a:t>APPLY</a:t>
            </a:r>
          </a:p>
        </p:txBody>
      </p:sp>
      <p:sp>
        <p:nvSpPr>
          <p:cNvPr name="TextBox 6" id="6"/>
          <p:cNvSpPr txBox="true"/>
          <p:nvPr/>
        </p:nvSpPr>
        <p:spPr>
          <a:xfrm rot="0">
            <a:off x="1028700" y="971550"/>
            <a:ext cx="3939707" cy="358775"/>
          </a:xfrm>
          <a:prstGeom prst="rect">
            <a:avLst/>
          </a:prstGeom>
        </p:spPr>
        <p:txBody>
          <a:bodyPr anchor="t" rtlCol="false" tIns="0" lIns="0" bIns="0" rIns="0">
            <a:spAutoFit/>
          </a:bodyPr>
          <a:lstStyle/>
          <a:p>
            <a:pPr algn="l">
              <a:lnSpc>
                <a:spcPts val="2799"/>
              </a:lnSpc>
            </a:pPr>
            <a:r>
              <a:rPr lang="en-US" sz="1999" spc="19">
                <a:solidFill>
                  <a:srgbClr val="424242"/>
                </a:solidFill>
                <a:latin typeface="Poppins"/>
                <a:ea typeface="Poppins"/>
                <a:cs typeface="Poppins"/>
                <a:sym typeface="Poppins"/>
              </a:rPr>
              <a:t>DEVELOPER OPERATIONAL</a:t>
            </a:r>
          </a:p>
        </p:txBody>
      </p:sp>
      <p:sp>
        <p:nvSpPr>
          <p:cNvPr name="TextBox 7" id="7"/>
          <p:cNvSpPr txBox="true"/>
          <p:nvPr/>
        </p:nvSpPr>
        <p:spPr>
          <a:xfrm rot="0">
            <a:off x="12977160" y="4592248"/>
            <a:ext cx="5079206" cy="1571735"/>
          </a:xfrm>
          <a:prstGeom prst="rect">
            <a:avLst/>
          </a:prstGeom>
        </p:spPr>
        <p:txBody>
          <a:bodyPr anchor="t" rtlCol="false" tIns="0" lIns="0" bIns="0" rIns="0">
            <a:spAutoFit/>
          </a:bodyPr>
          <a:lstStyle/>
          <a:p>
            <a:pPr algn="l">
              <a:lnSpc>
                <a:spcPts val="3143"/>
              </a:lnSpc>
              <a:spcBef>
                <a:spcPct val="0"/>
              </a:spcBef>
            </a:pPr>
            <a:r>
              <a:rPr lang="en-US" sz="2245">
                <a:solidFill>
                  <a:srgbClr val="0C0C0C"/>
                </a:solidFill>
                <a:latin typeface="Poppins"/>
                <a:ea typeface="Poppins"/>
                <a:cs typeface="Poppins"/>
                <a:sym typeface="Poppins"/>
              </a:rPr>
              <a:t>Terraform akan:</a:t>
            </a:r>
          </a:p>
          <a:p>
            <a:pPr algn="l">
              <a:lnSpc>
                <a:spcPts val="3143"/>
              </a:lnSpc>
              <a:spcBef>
                <a:spcPct val="0"/>
              </a:spcBef>
            </a:pPr>
            <a:r>
              <a:rPr lang="en-US" sz="2245">
                <a:solidFill>
                  <a:srgbClr val="0C0C0C"/>
                </a:solidFill>
                <a:latin typeface="Poppins"/>
                <a:ea typeface="Poppins"/>
                <a:cs typeface="Poppins"/>
                <a:sym typeface="Poppins"/>
              </a:rPr>
              <a:t>Membuat Docker Network</a:t>
            </a:r>
          </a:p>
          <a:p>
            <a:pPr algn="l">
              <a:lnSpc>
                <a:spcPts val="3143"/>
              </a:lnSpc>
              <a:spcBef>
                <a:spcPct val="0"/>
              </a:spcBef>
            </a:pPr>
            <a:r>
              <a:rPr lang="en-US" sz="2245">
                <a:solidFill>
                  <a:srgbClr val="0C0C0C"/>
                </a:solidFill>
                <a:latin typeface="Poppins"/>
                <a:ea typeface="Poppins"/>
                <a:cs typeface="Poppins"/>
                <a:sym typeface="Poppins"/>
              </a:rPr>
              <a:t>Membuat 5 backend container</a:t>
            </a:r>
          </a:p>
          <a:p>
            <a:pPr algn="l">
              <a:lnSpc>
                <a:spcPts val="3143"/>
              </a:lnSpc>
              <a:spcBef>
                <a:spcPct val="0"/>
              </a:spcBef>
            </a:pPr>
            <a:r>
              <a:rPr lang="en-US" sz="2245">
                <a:solidFill>
                  <a:srgbClr val="0C0C0C"/>
                </a:solidFill>
                <a:latin typeface="Poppins"/>
                <a:ea typeface="Poppins"/>
                <a:cs typeface="Poppins"/>
                <a:sym typeface="Poppins"/>
              </a:rPr>
              <a:t>Membuat 1 load balancer container</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FEF7"/>
        </a:solidFill>
      </p:bgPr>
    </p:bg>
    <p:spTree>
      <p:nvGrpSpPr>
        <p:cNvPr id="1" name=""/>
        <p:cNvGrpSpPr/>
        <p:nvPr/>
      </p:nvGrpSpPr>
      <p:grpSpPr>
        <a:xfrm>
          <a:off x="0" y="0"/>
          <a:ext cx="0" cy="0"/>
          <a:chOff x="0" y="0"/>
          <a:chExt cx="0" cy="0"/>
        </a:xfrm>
      </p:grpSpPr>
      <p:sp>
        <p:nvSpPr>
          <p:cNvPr name="Freeform 2" id="2"/>
          <p:cNvSpPr/>
          <p:nvPr/>
        </p:nvSpPr>
        <p:spPr>
          <a:xfrm flipH="false" flipV="false" rot="6574401">
            <a:off x="5291233" y="1163148"/>
            <a:ext cx="15373953" cy="8665319"/>
          </a:xfrm>
          <a:custGeom>
            <a:avLst/>
            <a:gdLst/>
            <a:ahLst/>
            <a:cxnLst/>
            <a:rect r="r" b="b" t="t" l="l"/>
            <a:pathLst>
              <a:path h="8665319" w="15373953">
                <a:moveTo>
                  <a:pt x="0" y="0"/>
                </a:moveTo>
                <a:lnTo>
                  <a:pt x="15373953" y="0"/>
                </a:lnTo>
                <a:lnTo>
                  <a:pt x="15373953" y="8665319"/>
                </a:lnTo>
                <a:lnTo>
                  <a:pt x="0" y="866531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1212210"/>
            <a:ext cx="10119446" cy="1485524"/>
          </a:xfrm>
          <a:prstGeom prst="rect">
            <a:avLst/>
          </a:prstGeom>
        </p:spPr>
        <p:txBody>
          <a:bodyPr anchor="t" rtlCol="false" tIns="0" lIns="0" bIns="0" rIns="0">
            <a:spAutoFit/>
          </a:bodyPr>
          <a:lstStyle/>
          <a:p>
            <a:pPr algn="l">
              <a:lnSpc>
                <a:spcPts val="9751"/>
              </a:lnSpc>
            </a:pPr>
            <a:r>
              <a:rPr lang="en-US" b="true" sz="11748" spc="-246">
                <a:solidFill>
                  <a:srgbClr val="ED3F27"/>
                </a:solidFill>
                <a:latin typeface="Poppins Bold"/>
                <a:ea typeface="Poppins Bold"/>
                <a:cs typeface="Poppins Bold"/>
                <a:sym typeface="Poppins Bold"/>
              </a:rPr>
              <a:t>DOCKER</a:t>
            </a:r>
          </a:p>
        </p:txBody>
      </p:sp>
      <p:sp>
        <p:nvSpPr>
          <p:cNvPr name="TextBox 4" id="4"/>
          <p:cNvSpPr txBox="true"/>
          <p:nvPr/>
        </p:nvSpPr>
        <p:spPr>
          <a:xfrm rot="0">
            <a:off x="1028700" y="2517080"/>
            <a:ext cx="9099743" cy="1485524"/>
          </a:xfrm>
          <a:prstGeom prst="rect">
            <a:avLst/>
          </a:prstGeom>
        </p:spPr>
        <p:txBody>
          <a:bodyPr anchor="t" rtlCol="false" tIns="0" lIns="0" bIns="0" rIns="0">
            <a:spAutoFit/>
          </a:bodyPr>
          <a:lstStyle/>
          <a:p>
            <a:pPr algn="l">
              <a:lnSpc>
                <a:spcPts val="9751"/>
              </a:lnSpc>
            </a:pPr>
            <a:r>
              <a:rPr lang="en-US" b="true" sz="11748" spc="-246">
                <a:solidFill>
                  <a:srgbClr val="134686"/>
                </a:solidFill>
                <a:latin typeface="Poppins Bold"/>
                <a:ea typeface="Poppins Bold"/>
                <a:cs typeface="Poppins Bold"/>
                <a:sym typeface="Poppins Bold"/>
              </a:rPr>
              <a:t>CONTAINER</a:t>
            </a:r>
          </a:p>
        </p:txBody>
      </p:sp>
      <p:sp>
        <p:nvSpPr>
          <p:cNvPr name="Freeform 5" id="5"/>
          <p:cNvSpPr/>
          <p:nvPr/>
        </p:nvSpPr>
        <p:spPr>
          <a:xfrm flipH="false" flipV="false" rot="0">
            <a:off x="10128443" y="2575217"/>
            <a:ext cx="6415100" cy="4094737"/>
          </a:xfrm>
          <a:custGeom>
            <a:avLst/>
            <a:gdLst/>
            <a:ahLst/>
            <a:cxnLst/>
            <a:rect r="r" b="b" t="t" l="l"/>
            <a:pathLst>
              <a:path h="4094737" w="6415100">
                <a:moveTo>
                  <a:pt x="0" y="0"/>
                </a:moveTo>
                <a:lnTo>
                  <a:pt x="6415100" y="0"/>
                </a:lnTo>
                <a:lnTo>
                  <a:pt x="6415100" y="4094736"/>
                </a:lnTo>
                <a:lnTo>
                  <a:pt x="0" y="4094736"/>
                </a:lnTo>
                <a:lnTo>
                  <a:pt x="0" y="0"/>
                </a:lnTo>
                <a:close/>
              </a:path>
            </a:pathLst>
          </a:custGeom>
          <a:blipFill>
            <a:blip r:embed="rId4"/>
            <a:stretch>
              <a:fillRect l="0" t="0" r="-62662" b="0"/>
            </a:stretch>
          </a:blipFill>
        </p:spPr>
      </p:sp>
      <p:sp>
        <p:nvSpPr>
          <p:cNvPr name="Freeform 6" id="6"/>
          <p:cNvSpPr/>
          <p:nvPr/>
        </p:nvSpPr>
        <p:spPr>
          <a:xfrm flipH="false" flipV="false" rot="0">
            <a:off x="1028700" y="6924508"/>
            <a:ext cx="12637326" cy="1974582"/>
          </a:xfrm>
          <a:custGeom>
            <a:avLst/>
            <a:gdLst/>
            <a:ahLst/>
            <a:cxnLst/>
            <a:rect r="r" b="b" t="t" l="l"/>
            <a:pathLst>
              <a:path h="1974582" w="12637326">
                <a:moveTo>
                  <a:pt x="0" y="0"/>
                </a:moveTo>
                <a:lnTo>
                  <a:pt x="12637326" y="0"/>
                </a:lnTo>
                <a:lnTo>
                  <a:pt x="12637326" y="1974582"/>
                </a:lnTo>
                <a:lnTo>
                  <a:pt x="0" y="1974582"/>
                </a:lnTo>
                <a:lnTo>
                  <a:pt x="0" y="0"/>
                </a:lnTo>
                <a:close/>
              </a:path>
            </a:pathLst>
          </a:custGeom>
          <a:blipFill>
            <a:blip r:embed="rId5"/>
            <a:stretch>
              <a:fillRect l="0" t="0" r="0" b="0"/>
            </a:stretch>
          </a:blipFill>
        </p:spPr>
      </p:sp>
      <p:sp>
        <p:nvSpPr>
          <p:cNvPr name="TextBox 7" id="7"/>
          <p:cNvSpPr txBox="true"/>
          <p:nvPr/>
        </p:nvSpPr>
        <p:spPr>
          <a:xfrm rot="0">
            <a:off x="1028700" y="5985499"/>
            <a:ext cx="5698212" cy="483979"/>
          </a:xfrm>
          <a:prstGeom prst="rect">
            <a:avLst/>
          </a:prstGeom>
        </p:spPr>
        <p:txBody>
          <a:bodyPr anchor="t" rtlCol="false" tIns="0" lIns="0" bIns="0" rIns="0">
            <a:spAutoFit/>
          </a:bodyPr>
          <a:lstStyle/>
          <a:p>
            <a:pPr algn="ctr">
              <a:lnSpc>
                <a:spcPts val="3774"/>
              </a:lnSpc>
              <a:spcBef>
                <a:spcPct val="0"/>
              </a:spcBef>
            </a:pPr>
            <a:r>
              <a:rPr lang="en-US" sz="2695">
                <a:solidFill>
                  <a:srgbClr val="000000"/>
                </a:solidFill>
                <a:latin typeface="Poppins"/>
                <a:ea typeface="Poppins"/>
                <a:cs typeface="Poppins"/>
                <a:sym typeface="Poppins"/>
              </a:rPr>
              <a:t>Semua container berhasil dibuat.</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FEF7"/>
        </a:solidFill>
      </p:bgPr>
    </p:bg>
    <p:spTree>
      <p:nvGrpSpPr>
        <p:cNvPr id="1" name=""/>
        <p:cNvGrpSpPr/>
        <p:nvPr/>
      </p:nvGrpSpPr>
      <p:grpSpPr>
        <a:xfrm>
          <a:off x="0" y="0"/>
          <a:ext cx="0" cy="0"/>
          <a:chOff x="0" y="0"/>
          <a:chExt cx="0" cy="0"/>
        </a:xfrm>
      </p:grpSpPr>
      <p:sp>
        <p:nvSpPr>
          <p:cNvPr name="Freeform 2" id="2"/>
          <p:cNvSpPr/>
          <p:nvPr/>
        </p:nvSpPr>
        <p:spPr>
          <a:xfrm flipH="false" flipV="false" rot="0">
            <a:off x="-527194" y="-307537"/>
            <a:ext cx="19342388" cy="10902073"/>
          </a:xfrm>
          <a:custGeom>
            <a:avLst/>
            <a:gdLst/>
            <a:ahLst/>
            <a:cxnLst/>
            <a:rect r="r" b="b" t="t" l="l"/>
            <a:pathLst>
              <a:path h="10902073" w="19342388">
                <a:moveTo>
                  <a:pt x="0" y="0"/>
                </a:moveTo>
                <a:lnTo>
                  <a:pt x="19342388" y="0"/>
                </a:lnTo>
                <a:lnTo>
                  <a:pt x="19342388" y="10902074"/>
                </a:lnTo>
                <a:lnTo>
                  <a:pt x="0" y="10902074"/>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8458433" y="3110230"/>
            <a:ext cx="9144000" cy="2033270"/>
          </a:xfrm>
          <a:prstGeom prst="rect">
            <a:avLst/>
          </a:prstGeom>
        </p:spPr>
        <p:txBody>
          <a:bodyPr anchor="t" rtlCol="false" tIns="0" lIns="0" bIns="0" rIns="0">
            <a:spAutoFit/>
          </a:bodyPr>
          <a:lstStyle/>
          <a:p>
            <a:pPr algn="l" marL="474984" indent="-237492" lvl="1">
              <a:lnSpc>
                <a:spcPts val="3080"/>
              </a:lnSpc>
              <a:buFont typeface="Arial"/>
              <a:buChar char="•"/>
            </a:pPr>
            <a:r>
              <a:rPr lang="en-US" sz="2200">
                <a:solidFill>
                  <a:srgbClr val="ED3F27"/>
                </a:solidFill>
                <a:latin typeface="Poppins"/>
                <a:ea typeface="Poppins"/>
                <a:cs typeface="Poppins"/>
                <a:sym typeface="Poppins"/>
              </a:rPr>
              <a:t>Terraf</a:t>
            </a:r>
            <a:r>
              <a:rPr lang="en-US" sz="2200">
                <a:solidFill>
                  <a:srgbClr val="ED3F27"/>
                </a:solidFill>
                <a:latin typeface="Poppins"/>
                <a:ea typeface="Poppins"/>
                <a:cs typeface="Poppins"/>
                <a:sym typeface="Poppins"/>
              </a:rPr>
              <a:t>orm mempermudah pembuatan infrastruktur</a:t>
            </a:r>
          </a:p>
          <a:p>
            <a:pPr algn="l" marL="474984" indent="-237492" lvl="1">
              <a:lnSpc>
                <a:spcPts val="3080"/>
              </a:lnSpc>
              <a:buFont typeface="Arial"/>
              <a:buChar char="•"/>
            </a:pPr>
            <a:r>
              <a:rPr lang="en-US" sz="2200">
                <a:solidFill>
                  <a:srgbClr val="ED3F27"/>
                </a:solidFill>
                <a:latin typeface="Poppins"/>
                <a:ea typeface="Poppins"/>
                <a:cs typeface="Poppins"/>
                <a:sym typeface="Poppins"/>
              </a:rPr>
              <a:t>Docker memudahkan pengelolaan container</a:t>
            </a:r>
          </a:p>
          <a:p>
            <a:pPr algn="l" marL="474984" indent="-237492" lvl="1">
              <a:lnSpc>
                <a:spcPts val="3080"/>
              </a:lnSpc>
              <a:buFont typeface="Arial"/>
              <a:buChar char="•"/>
            </a:pPr>
            <a:r>
              <a:rPr lang="en-US" sz="2200">
                <a:solidFill>
                  <a:srgbClr val="ED3F27"/>
                </a:solidFill>
                <a:latin typeface="Poppins"/>
                <a:ea typeface="Poppins"/>
                <a:cs typeface="Poppins"/>
                <a:sym typeface="Poppins"/>
              </a:rPr>
              <a:t>Nginx efektif sebagai Load Balancer</a:t>
            </a:r>
          </a:p>
          <a:p>
            <a:pPr algn="l" marL="474984" indent="-237492" lvl="1">
              <a:lnSpc>
                <a:spcPts val="3080"/>
              </a:lnSpc>
              <a:buFont typeface="Arial"/>
              <a:buChar char="•"/>
            </a:pPr>
            <a:r>
              <a:rPr lang="en-US" sz="2200">
                <a:solidFill>
                  <a:srgbClr val="ED3F27"/>
                </a:solidFill>
                <a:latin typeface="Poppins"/>
                <a:ea typeface="Poppins"/>
                <a:cs typeface="Poppins"/>
                <a:sym typeface="Poppins"/>
              </a:rPr>
              <a:t>Sistem berhasil membagi trafik ke beberapa backend</a:t>
            </a:r>
          </a:p>
          <a:p>
            <a:pPr algn="l">
              <a:lnSpc>
                <a:spcPts val="3780"/>
              </a:lnSpc>
              <a:spcBef>
                <a:spcPct val="0"/>
              </a:spcBef>
            </a:pPr>
          </a:p>
        </p:txBody>
      </p:sp>
      <p:sp>
        <p:nvSpPr>
          <p:cNvPr name="TextBox 4" id="4"/>
          <p:cNvSpPr txBox="true"/>
          <p:nvPr/>
        </p:nvSpPr>
        <p:spPr>
          <a:xfrm rot="0">
            <a:off x="1028700" y="2926259"/>
            <a:ext cx="8460940" cy="1239727"/>
          </a:xfrm>
          <a:prstGeom prst="rect">
            <a:avLst/>
          </a:prstGeom>
        </p:spPr>
        <p:txBody>
          <a:bodyPr anchor="t" rtlCol="false" tIns="0" lIns="0" bIns="0" rIns="0">
            <a:spAutoFit/>
          </a:bodyPr>
          <a:lstStyle/>
          <a:p>
            <a:pPr algn="l">
              <a:lnSpc>
                <a:spcPts val="8153"/>
              </a:lnSpc>
            </a:pPr>
            <a:r>
              <a:rPr lang="en-US" b="true" sz="9823" spc="-206">
                <a:solidFill>
                  <a:srgbClr val="ED3F27"/>
                </a:solidFill>
                <a:latin typeface="Poppins Bold"/>
                <a:ea typeface="Poppins Bold"/>
                <a:cs typeface="Poppins Bold"/>
                <a:sym typeface="Poppins Bold"/>
              </a:rPr>
              <a:t>PENGUJIAN</a:t>
            </a:r>
          </a:p>
        </p:txBody>
      </p:sp>
      <p:grpSp>
        <p:nvGrpSpPr>
          <p:cNvPr name="Group 5" id="5"/>
          <p:cNvGrpSpPr/>
          <p:nvPr/>
        </p:nvGrpSpPr>
        <p:grpSpPr>
          <a:xfrm rot="-308008">
            <a:off x="1056716" y="2024347"/>
            <a:ext cx="2865624" cy="692784"/>
            <a:chOff x="0" y="0"/>
            <a:chExt cx="666288" cy="161080"/>
          </a:xfrm>
        </p:grpSpPr>
        <p:sp>
          <p:nvSpPr>
            <p:cNvPr name="Freeform 6" id="6"/>
            <p:cNvSpPr/>
            <p:nvPr/>
          </p:nvSpPr>
          <p:spPr>
            <a:xfrm flipH="false" flipV="false" rot="0">
              <a:off x="0" y="0"/>
              <a:ext cx="666288" cy="161080"/>
            </a:xfrm>
            <a:custGeom>
              <a:avLst/>
              <a:gdLst/>
              <a:ahLst/>
              <a:cxnLst/>
              <a:rect r="r" b="b" t="t" l="l"/>
              <a:pathLst>
                <a:path h="161080" w="666288">
                  <a:moveTo>
                    <a:pt x="0" y="0"/>
                  </a:moveTo>
                  <a:lnTo>
                    <a:pt x="666288" y="0"/>
                  </a:lnTo>
                  <a:lnTo>
                    <a:pt x="666288" y="161080"/>
                  </a:lnTo>
                  <a:lnTo>
                    <a:pt x="0" y="161080"/>
                  </a:lnTo>
                  <a:close/>
                </a:path>
              </a:pathLst>
            </a:custGeom>
            <a:solidFill>
              <a:srgbClr val="424242"/>
            </a:solidFill>
          </p:spPr>
        </p:sp>
        <p:sp>
          <p:nvSpPr>
            <p:cNvPr name="TextBox 7" id="7"/>
            <p:cNvSpPr txBox="true"/>
            <p:nvPr/>
          </p:nvSpPr>
          <p:spPr>
            <a:xfrm>
              <a:off x="0" y="-9525"/>
              <a:ext cx="666288" cy="170605"/>
            </a:xfrm>
            <a:prstGeom prst="rect">
              <a:avLst/>
            </a:prstGeom>
          </p:spPr>
          <p:txBody>
            <a:bodyPr anchor="ctr" rtlCol="false" tIns="50800" lIns="50800" bIns="50800" rIns="50800"/>
            <a:lstStyle/>
            <a:p>
              <a:pPr algn="ctr">
                <a:lnSpc>
                  <a:spcPts val="2899"/>
                </a:lnSpc>
              </a:pPr>
              <a:r>
                <a:rPr lang="en-US" b="true" sz="2499" spc="24">
                  <a:solidFill>
                    <a:srgbClr val="FFFEF7"/>
                  </a:solidFill>
                  <a:latin typeface="Poppins Bold"/>
                  <a:ea typeface="Poppins Bold"/>
                  <a:cs typeface="Poppins Bold"/>
                  <a:sym typeface="Poppins Bold"/>
                </a:rPr>
                <a:t>PRESENTATION</a:t>
              </a:r>
            </a:p>
          </p:txBody>
        </p:sp>
      </p:grpSp>
      <p:sp>
        <p:nvSpPr>
          <p:cNvPr name="Freeform 8" id="8"/>
          <p:cNvSpPr/>
          <p:nvPr/>
        </p:nvSpPr>
        <p:spPr>
          <a:xfrm flipH="false" flipV="false" rot="0">
            <a:off x="1031470" y="6171397"/>
            <a:ext cx="16230600" cy="2779490"/>
          </a:xfrm>
          <a:custGeom>
            <a:avLst/>
            <a:gdLst/>
            <a:ahLst/>
            <a:cxnLst/>
            <a:rect r="r" b="b" t="t" l="l"/>
            <a:pathLst>
              <a:path h="2779490" w="16230600">
                <a:moveTo>
                  <a:pt x="0" y="0"/>
                </a:moveTo>
                <a:lnTo>
                  <a:pt x="16230600" y="0"/>
                </a:lnTo>
                <a:lnTo>
                  <a:pt x="16230600" y="2779490"/>
                </a:lnTo>
                <a:lnTo>
                  <a:pt x="0" y="2779490"/>
                </a:lnTo>
                <a:lnTo>
                  <a:pt x="0" y="0"/>
                </a:lnTo>
                <a:close/>
              </a:path>
            </a:pathLst>
          </a:custGeom>
          <a:blipFill>
            <a:blip r:embed="rId4"/>
            <a:stretch>
              <a:fillRect l="0" t="0" r="0" b="0"/>
            </a:stretch>
          </a:blipFill>
        </p:spPr>
      </p:sp>
      <p:sp>
        <p:nvSpPr>
          <p:cNvPr name="Freeform 9" id="9"/>
          <p:cNvSpPr/>
          <p:nvPr/>
        </p:nvSpPr>
        <p:spPr>
          <a:xfrm flipH="false" flipV="false" rot="0">
            <a:off x="8179224" y="5460304"/>
            <a:ext cx="9082846" cy="507784"/>
          </a:xfrm>
          <a:custGeom>
            <a:avLst/>
            <a:gdLst/>
            <a:ahLst/>
            <a:cxnLst/>
            <a:rect r="r" b="b" t="t" l="l"/>
            <a:pathLst>
              <a:path h="507784" w="9082846">
                <a:moveTo>
                  <a:pt x="0" y="0"/>
                </a:moveTo>
                <a:lnTo>
                  <a:pt x="9082846" y="0"/>
                </a:lnTo>
                <a:lnTo>
                  <a:pt x="9082846" y="507785"/>
                </a:lnTo>
                <a:lnTo>
                  <a:pt x="0" y="507785"/>
                </a:lnTo>
                <a:lnTo>
                  <a:pt x="0" y="0"/>
                </a:lnTo>
                <a:close/>
              </a:path>
            </a:pathLst>
          </a:custGeom>
          <a:blipFill>
            <a:blip r:embed="rId5"/>
            <a:stretch>
              <a:fillRect l="0" t="0" r="0" b="-7714"/>
            </a:stretch>
          </a:blipFill>
        </p:spPr>
      </p:sp>
      <p:sp>
        <p:nvSpPr>
          <p:cNvPr name="TextBox 10" id="10"/>
          <p:cNvSpPr txBox="true"/>
          <p:nvPr/>
        </p:nvSpPr>
        <p:spPr>
          <a:xfrm rot="0">
            <a:off x="1028700" y="4017269"/>
            <a:ext cx="7566195" cy="1239727"/>
          </a:xfrm>
          <a:prstGeom prst="rect">
            <a:avLst/>
          </a:prstGeom>
        </p:spPr>
        <p:txBody>
          <a:bodyPr anchor="t" rtlCol="false" tIns="0" lIns="0" bIns="0" rIns="0">
            <a:spAutoFit/>
          </a:bodyPr>
          <a:lstStyle/>
          <a:p>
            <a:pPr algn="l">
              <a:lnSpc>
                <a:spcPts val="8153"/>
              </a:lnSpc>
            </a:pPr>
            <a:r>
              <a:rPr lang="en-US" b="true" sz="9823" spc="-206">
                <a:solidFill>
                  <a:srgbClr val="134686"/>
                </a:solidFill>
                <a:latin typeface="Poppins Bold"/>
                <a:ea typeface="Poppins Bold"/>
                <a:cs typeface="Poppins Bold"/>
                <a:sym typeface="Poppins Bold"/>
              </a:rPr>
              <a:t>HASIL WEB</a:t>
            </a:r>
          </a:p>
        </p:txBody>
      </p:sp>
      <p:sp>
        <p:nvSpPr>
          <p:cNvPr name="TextBox 11" id="11"/>
          <p:cNvSpPr txBox="true"/>
          <p:nvPr/>
        </p:nvSpPr>
        <p:spPr>
          <a:xfrm rot="0">
            <a:off x="1028700" y="971550"/>
            <a:ext cx="4351048" cy="358775"/>
          </a:xfrm>
          <a:prstGeom prst="rect">
            <a:avLst/>
          </a:prstGeom>
        </p:spPr>
        <p:txBody>
          <a:bodyPr anchor="t" rtlCol="false" tIns="0" lIns="0" bIns="0" rIns="0">
            <a:spAutoFit/>
          </a:bodyPr>
          <a:lstStyle/>
          <a:p>
            <a:pPr algn="l">
              <a:lnSpc>
                <a:spcPts val="2799"/>
              </a:lnSpc>
            </a:pPr>
            <a:r>
              <a:rPr lang="en-US" sz="1999" spc="19">
                <a:solidFill>
                  <a:srgbClr val="424242"/>
                </a:solidFill>
                <a:latin typeface="Poppins"/>
                <a:ea typeface="Poppins"/>
                <a:cs typeface="Poppins"/>
                <a:sym typeface="Poppins"/>
              </a:rPr>
              <a:t>DEVELOPER OPERATIONAL</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FEF7"/>
        </a:solidFill>
      </p:bgPr>
    </p:bg>
    <p:spTree>
      <p:nvGrpSpPr>
        <p:cNvPr id="1" name=""/>
        <p:cNvGrpSpPr/>
        <p:nvPr/>
      </p:nvGrpSpPr>
      <p:grpSpPr>
        <a:xfrm>
          <a:off x="0" y="0"/>
          <a:ext cx="0" cy="0"/>
          <a:chOff x="0" y="0"/>
          <a:chExt cx="0" cy="0"/>
        </a:xfrm>
      </p:grpSpPr>
      <p:sp>
        <p:nvSpPr>
          <p:cNvPr name="Freeform 2" id="2"/>
          <p:cNvSpPr/>
          <p:nvPr/>
        </p:nvSpPr>
        <p:spPr>
          <a:xfrm flipH="false" flipV="true" rot="0">
            <a:off x="-527194" y="-307537"/>
            <a:ext cx="19342388" cy="10902073"/>
          </a:xfrm>
          <a:custGeom>
            <a:avLst/>
            <a:gdLst/>
            <a:ahLst/>
            <a:cxnLst/>
            <a:rect r="r" b="b" t="t" l="l"/>
            <a:pathLst>
              <a:path h="10902073" w="19342388">
                <a:moveTo>
                  <a:pt x="0" y="10902074"/>
                </a:moveTo>
                <a:lnTo>
                  <a:pt x="19342388" y="10902074"/>
                </a:lnTo>
                <a:lnTo>
                  <a:pt x="19342388" y="0"/>
                </a:lnTo>
                <a:lnTo>
                  <a:pt x="0" y="0"/>
                </a:lnTo>
                <a:lnTo>
                  <a:pt x="0" y="10902074"/>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939932" y="5960254"/>
            <a:ext cx="12408135" cy="1629081"/>
          </a:xfrm>
          <a:prstGeom prst="rect">
            <a:avLst/>
          </a:prstGeom>
        </p:spPr>
        <p:txBody>
          <a:bodyPr anchor="t" rtlCol="false" tIns="0" lIns="0" bIns="0" rIns="0">
            <a:spAutoFit/>
          </a:bodyPr>
          <a:lstStyle/>
          <a:p>
            <a:pPr algn="ctr">
              <a:lnSpc>
                <a:spcPts val="2608"/>
              </a:lnSpc>
            </a:pPr>
            <a:r>
              <a:rPr lang="en-US" sz="1862">
                <a:solidFill>
                  <a:srgbClr val="424242"/>
                </a:solidFill>
                <a:latin typeface="Poppins"/>
                <a:ea typeface="Poppins"/>
                <a:cs typeface="Poppins"/>
                <a:sym typeface="Poppins"/>
              </a:rPr>
              <a:t>I</a:t>
            </a:r>
            <a:r>
              <a:rPr lang="en-US" sz="1862">
                <a:solidFill>
                  <a:srgbClr val="424242"/>
                </a:solidFill>
                <a:latin typeface="Poppins"/>
                <a:ea typeface="Poppins"/>
                <a:cs typeface="Poppins"/>
                <a:sym typeface="Poppins"/>
              </a:rPr>
              <a:t>mplementasi ini membuktikan bahwa otomatisasi infrastruktur menggunakan Terraform serta containerisasi dengan Docker memberikan solusi yang scalable, efisien, dan mudah dikelola. Penggunaan Nginx sebagai load balancer memastikan distribusi trafik yang optimal dan meningkatkan reliabilitas sistem.</a:t>
            </a:r>
          </a:p>
          <a:p>
            <a:pPr algn="ctr">
              <a:lnSpc>
                <a:spcPts val="2608"/>
              </a:lnSpc>
              <a:spcBef>
                <a:spcPct val="0"/>
              </a:spcBef>
            </a:pPr>
          </a:p>
        </p:txBody>
      </p:sp>
      <p:sp>
        <p:nvSpPr>
          <p:cNvPr name="TextBox 4" id="4"/>
          <p:cNvSpPr txBox="true"/>
          <p:nvPr/>
        </p:nvSpPr>
        <p:spPr>
          <a:xfrm rot="0">
            <a:off x="2526507" y="4015741"/>
            <a:ext cx="8109006" cy="2157521"/>
          </a:xfrm>
          <a:prstGeom prst="rect">
            <a:avLst/>
          </a:prstGeom>
        </p:spPr>
        <p:txBody>
          <a:bodyPr anchor="t" rtlCol="false" tIns="0" lIns="0" bIns="0" rIns="0">
            <a:spAutoFit/>
          </a:bodyPr>
          <a:lstStyle/>
          <a:p>
            <a:pPr algn="ctr">
              <a:lnSpc>
                <a:spcPts val="14157"/>
              </a:lnSpc>
            </a:pPr>
            <a:r>
              <a:rPr lang="en-US" b="true" sz="17057" spc="-358">
                <a:solidFill>
                  <a:srgbClr val="134686"/>
                </a:solidFill>
                <a:latin typeface="Poppins Bold"/>
                <a:ea typeface="Poppins Bold"/>
                <a:cs typeface="Poppins Bold"/>
                <a:sym typeface="Poppins Bold"/>
              </a:rPr>
              <a:t>THANK</a:t>
            </a:r>
          </a:p>
        </p:txBody>
      </p:sp>
      <p:sp>
        <p:nvSpPr>
          <p:cNvPr name="TextBox 5" id="5"/>
          <p:cNvSpPr txBox="true"/>
          <p:nvPr/>
        </p:nvSpPr>
        <p:spPr>
          <a:xfrm rot="0">
            <a:off x="10260713" y="4015741"/>
            <a:ext cx="5311738" cy="2157521"/>
          </a:xfrm>
          <a:prstGeom prst="rect">
            <a:avLst/>
          </a:prstGeom>
        </p:spPr>
        <p:txBody>
          <a:bodyPr anchor="t" rtlCol="false" tIns="0" lIns="0" bIns="0" rIns="0">
            <a:spAutoFit/>
          </a:bodyPr>
          <a:lstStyle/>
          <a:p>
            <a:pPr algn="ctr">
              <a:lnSpc>
                <a:spcPts val="14157"/>
              </a:lnSpc>
            </a:pPr>
            <a:r>
              <a:rPr lang="en-US" b="true" sz="17057" spc="-358">
                <a:solidFill>
                  <a:srgbClr val="ED3F27"/>
                </a:solidFill>
                <a:latin typeface="Poppins Bold"/>
                <a:ea typeface="Poppins Bold"/>
                <a:cs typeface="Poppins Bold"/>
                <a:sym typeface="Poppins Bold"/>
              </a:rPr>
              <a:t>YOU</a:t>
            </a:r>
          </a:p>
        </p:txBody>
      </p:sp>
      <p:sp>
        <p:nvSpPr>
          <p:cNvPr name="TextBox 6" id="6"/>
          <p:cNvSpPr txBox="true"/>
          <p:nvPr/>
        </p:nvSpPr>
        <p:spPr>
          <a:xfrm rot="0">
            <a:off x="13436835" y="8933307"/>
            <a:ext cx="3822465" cy="324993"/>
          </a:xfrm>
          <a:prstGeom prst="rect">
            <a:avLst/>
          </a:prstGeom>
        </p:spPr>
        <p:txBody>
          <a:bodyPr anchor="t" rtlCol="false" tIns="0" lIns="0" bIns="0" rIns="0">
            <a:spAutoFit/>
          </a:bodyPr>
          <a:lstStyle/>
          <a:p>
            <a:pPr algn="r">
              <a:lnSpc>
                <a:spcPts val="2436"/>
              </a:lnSpc>
            </a:pPr>
            <a:r>
              <a:rPr lang="en-US" sz="2100" spc="21">
                <a:solidFill>
                  <a:srgbClr val="424242"/>
                </a:solidFill>
                <a:latin typeface="Poppins"/>
                <a:ea typeface="Poppins"/>
                <a:cs typeface="Poppins"/>
                <a:sym typeface="Poppins"/>
              </a:rPr>
              <a:t>Bapak Aqshal</a:t>
            </a:r>
          </a:p>
        </p:txBody>
      </p:sp>
      <p:sp>
        <p:nvSpPr>
          <p:cNvPr name="TextBox 7" id="7"/>
          <p:cNvSpPr txBox="true"/>
          <p:nvPr/>
        </p:nvSpPr>
        <p:spPr>
          <a:xfrm rot="0">
            <a:off x="13117775" y="8608314"/>
            <a:ext cx="4141525" cy="363983"/>
          </a:xfrm>
          <a:prstGeom prst="rect">
            <a:avLst/>
          </a:prstGeom>
        </p:spPr>
        <p:txBody>
          <a:bodyPr anchor="t" rtlCol="false" tIns="0" lIns="0" bIns="0" rIns="0">
            <a:spAutoFit/>
          </a:bodyPr>
          <a:lstStyle/>
          <a:p>
            <a:pPr algn="r">
              <a:lnSpc>
                <a:spcPts val="2639"/>
              </a:lnSpc>
            </a:pPr>
            <a:r>
              <a:rPr lang="en-US" b="true" sz="2275" spc="22">
                <a:solidFill>
                  <a:srgbClr val="424242"/>
                </a:solidFill>
                <a:latin typeface="Poppins Bold"/>
                <a:ea typeface="Poppins Bold"/>
                <a:cs typeface="Poppins Bold"/>
                <a:sym typeface="Poppins Bold"/>
              </a:rPr>
              <a:t>Maret 03 </a:t>
            </a:r>
            <a:r>
              <a:rPr lang="en-US" b="true" sz="2275" spc="22">
                <a:solidFill>
                  <a:srgbClr val="424242"/>
                </a:solidFill>
                <a:latin typeface="Poppins Bold"/>
                <a:ea typeface="Poppins Bold"/>
                <a:cs typeface="Poppins Bold"/>
                <a:sym typeface="Poppins Bold"/>
              </a:rPr>
              <a:t>, 2026</a:t>
            </a:r>
          </a:p>
        </p:txBody>
      </p:sp>
      <p:sp>
        <p:nvSpPr>
          <p:cNvPr name="TextBox 8" id="8"/>
          <p:cNvSpPr txBox="true"/>
          <p:nvPr/>
        </p:nvSpPr>
        <p:spPr>
          <a:xfrm rot="0">
            <a:off x="1028700" y="8933307"/>
            <a:ext cx="2901562" cy="324993"/>
          </a:xfrm>
          <a:prstGeom prst="rect">
            <a:avLst/>
          </a:prstGeom>
        </p:spPr>
        <p:txBody>
          <a:bodyPr anchor="t" rtlCol="false" tIns="0" lIns="0" bIns="0" rIns="0">
            <a:spAutoFit/>
          </a:bodyPr>
          <a:lstStyle/>
          <a:p>
            <a:pPr algn="l">
              <a:lnSpc>
                <a:spcPts val="2436"/>
              </a:lnSpc>
            </a:pPr>
            <a:r>
              <a:rPr lang="en-US" sz="2100" spc="21">
                <a:solidFill>
                  <a:srgbClr val="424242"/>
                </a:solidFill>
                <a:latin typeface="Poppins"/>
                <a:ea typeface="Poppins"/>
                <a:cs typeface="Poppins"/>
                <a:sym typeface="Poppins"/>
              </a:rPr>
              <a:t>Acaa</a:t>
            </a:r>
          </a:p>
        </p:txBody>
      </p:sp>
      <p:sp>
        <p:nvSpPr>
          <p:cNvPr name="TextBox 9" id="9"/>
          <p:cNvSpPr txBox="true"/>
          <p:nvPr/>
        </p:nvSpPr>
        <p:spPr>
          <a:xfrm rot="0">
            <a:off x="1028700" y="8617839"/>
            <a:ext cx="2901562" cy="324993"/>
          </a:xfrm>
          <a:prstGeom prst="rect">
            <a:avLst/>
          </a:prstGeom>
        </p:spPr>
        <p:txBody>
          <a:bodyPr anchor="t" rtlCol="false" tIns="0" lIns="0" bIns="0" rIns="0">
            <a:spAutoFit/>
          </a:bodyPr>
          <a:lstStyle/>
          <a:p>
            <a:pPr algn="l">
              <a:lnSpc>
                <a:spcPts val="2436"/>
              </a:lnSpc>
            </a:pPr>
            <a:r>
              <a:rPr lang="en-US" b="true" sz="2100" spc="21">
                <a:solidFill>
                  <a:srgbClr val="424242"/>
                </a:solidFill>
                <a:latin typeface="Poppins Bold"/>
                <a:ea typeface="Poppins Bold"/>
                <a:cs typeface="Poppins Bold"/>
                <a:sym typeface="Poppins Bold"/>
              </a:rPr>
              <a:t>Presented By</a:t>
            </a:r>
          </a:p>
        </p:txBody>
      </p:sp>
      <p:sp>
        <p:nvSpPr>
          <p:cNvPr name="TextBox 10" id="10"/>
          <p:cNvSpPr txBox="true"/>
          <p:nvPr/>
        </p:nvSpPr>
        <p:spPr>
          <a:xfrm rot="0">
            <a:off x="1028700" y="971550"/>
            <a:ext cx="4860326" cy="358775"/>
          </a:xfrm>
          <a:prstGeom prst="rect">
            <a:avLst/>
          </a:prstGeom>
        </p:spPr>
        <p:txBody>
          <a:bodyPr anchor="t" rtlCol="false" tIns="0" lIns="0" bIns="0" rIns="0">
            <a:spAutoFit/>
          </a:bodyPr>
          <a:lstStyle/>
          <a:p>
            <a:pPr algn="l">
              <a:lnSpc>
                <a:spcPts val="2799"/>
              </a:lnSpc>
            </a:pPr>
            <a:r>
              <a:rPr lang="en-US" sz="1999" spc="19">
                <a:solidFill>
                  <a:srgbClr val="424242"/>
                </a:solidFill>
                <a:latin typeface="Poppins"/>
                <a:ea typeface="Poppins"/>
                <a:cs typeface="Poppins"/>
                <a:sym typeface="Poppins"/>
              </a:rPr>
              <a:t>DEVELOPER OPERATIONAL</a:t>
            </a:r>
          </a:p>
        </p:txBody>
      </p:sp>
      <p:sp>
        <p:nvSpPr>
          <p:cNvPr name="TextBox 11" id="11"/>
          <p:cNvSpPr txBox="true"/>
          <p:nvPr/>
        </p:nvSpPr>
        <p:spPr>
          <a:xfrm rot="0">
            <a:off x="12541172" y="971550"/>
            <a:ext cx="4718128" cy="358775"/>
          </a:xfrm>
          <a:prstGeom prst="rect">
            <a:avLst/>
          </a:prstGeom>
        </p:spPr>
        <p:txBody>
          <a:bodyPr anchor="t" rtlCol="false" tIns="0" lIns="0" bIns="0" rIns="0">
            <a:spAutoFit/>
          </a:bodyPr>
          <a:lstStyle/>
          <a:p>
            <a:pPr algn="r">
              <a:lnSpc>
                <a:spcPts val="2799"/>
              </a:lnSpc>
            </a:pPr>
            <a:r>
              <a:rPr lang="en-US" sz="1999" spc="19">
                <a:solidFill>
                  <a:srgbClr val="424242"/>
                </a:solidFill>
                <a:latin typeface="Poppins"/>
                <a:ea typeface="Poppins"/>
                <a:cs typeface="Poppins"/>
                <a:sym typeface="Poppins"/>
              </a:rPr>
              <a:t>PRESENTED BY CANTIKA TRI WAHYUNI</a:t>
            </a:r>
          </a:p>
        </p:txBody>
      </p:sp>
      <p:grpSp>
        <p:nvGrpSpPr>
          <p:cNvPr name="Group 12" id="12"/>
          <p:cNvGrpSpPr/>
          <p:nvPr/>
        </p:nvGrpSpPr>
        <p:grpSpPr>
          <a:xfrm rot="353994">
            <a:off x="3603819" y="3178925"/>
            <a:ext cx="2865624" cy="692784"/>
            <a:chOff x="0" y="0"/>
            <a:chExt cx="666288" cy="161080"/>
          </a:xfrm>
        </p:grpSpPr>
        <p:sp>
          <p:nvSpPr>
            <p:cNvPr name="Freeform 13" id="13"/>
            <p:cNvSpPr/>
            <p:nvPr/>
          </p:nvSpPr>
          <p:spPr>
            <a:xfrm flipH="false" flipV="false" rot="0">
              <a:off x="0" y="0"/>
              <a:ext cx="666288" cy="161080"/>
            </a:xfrm>
            <a:custGeom>
              <a:avLst/>
              <a:gdLst/>
              <a:ahLst/>
              <a:cxnLst/>
              <a:rect r="r" b="b" t="t" l="l"/>
              <a:pathLst>
                <a:path h="161080" w="666288">
                  <a:moveTo>
                    <a:pt x="0" y="0"/>
                  </a:moveTo>
                  <a:lnTo>
                    <a:pt x="666288" y="0"/>
                  </a:lnTo>
                  <a:lnTo>
                    <a:pt x="666288" y="161080"/>
                  </a:lnTo>
                  <a:lnTo>
                    <a:pt x="0" y="161080"/>
                  </a:lnTo>
                  <a:close/>
                </a:path>
              </a:pathLst>
            </a:custGeom>
            <a:solidFill>
              <a:srgbClr val="424242"/>
            </a:solidFill>
          </p:spPr>
        </p:sp>
        <p:sp>
          <p:nvSpPr>
            <p:cNvPr name="TextBox 14" id="14"/>
            <p:cNvSpPr txBox="true"/>
            <p:nvPr/>
          </p:nvSpPr>
          <p:spPr>
            <a:xfrm>
              <a:off x="0" y="-9525"/>
              <a:ext cx="666288" cy="170605"/>
            </a:xfrm>
            <a:prstGeom prst="rect">
              <a:avLst/>
            </a:prstGeom>
          </p:spPr>
          <p:txBody>
            <a:bodyPr anchor="ctr" rtlCol="false" tIns="50800" lIns="50800" bIns="50800" rIns="50800"/>
            <a:lstStyle/>
            <a:p>
              <a:pPr algn="ctr">
                <a:lnSpc>
                  <a:spcPts val="2899"/>
                </a:lnSpc>
              </a:pPr>
              <a:r>
                <a:rPr lang="en-US" b="true" sz="2499" spc="24">
                  <a:solidFill>
                    <a:srgbClr val="FFFEF7"/>
                  </a:solidFill>
                  <a:latin typeface="Poppins Bold"/>
                  <a:ea typeface="Poppins Bold"/>
                  <a:cs typeface="Poppins Bold"/>
                  <a:sym typeface="Poppins Bold"/>
                </a:rPr>
                <a:t>PRESENTATION</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DAHC5fNlbgs</dc:identifier>
  <dcterms:modified xsi:type="dcterms:W3CDTF">2011-08-01T06:04:30Z</dcterms:modified>
  <cp:revision>1</cp:revision>
  <dc:title>Red Blue Bold Marketing Strategy Presentation</dc:title>
</cp:coreProperties>
</file>